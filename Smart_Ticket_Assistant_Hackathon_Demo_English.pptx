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" y="6510528"/>
            <a:ext cx="11612880" cy="0"/>
          </a:xfrm>
          <a:prstGeom prst="line">
            <a:avLst/>
          </a:prstGeom>
          <a:noFill/>
          <a:ln w="12700">
            <a:solidFill>
              <a:srgbClr val="2D3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565392"/>
            <a:ext cx="54864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B95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Smart Ticket Assistant · GenAI Hackathon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1117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960120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Ticket Assistant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31520" y="1737360"/>
            <a:ext cx="9875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0C0"/>
                </a:solidFill>
              </a:rPr>
              <a:t>GenAI-powered ticket categorization and response suggestion tool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731520" y="2240280"/>
            <a:ext cx="1508760" cy="329184"/>
          </a:xfrm>
          <a:prstGeom prst="roundRect">
            <a:avLst>
              <a:gd name="adj" fmla="val 22222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2308860"/>
            <a:ext cx="136245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Hackathon Demo</a:t>
            </a:r>
            <a:endParaRPr lang="en-US" sz="880" dirty="0"/>
          </a:p>
        </p:txBody>
      </p:sp>
      <p:sp>
        <p:nvSpPr>
          <p:cNvPr id="7" name="Shape 5"/>
          <p:cNvSpPr/>
          <p:nvPr/>
        </p:nvSpPr>
        <p:spPr>
          <a:xfrm>
            <a:off x="2423160" y="2240280"/>
            <a:ext cx="1783080" cy="329184"/>
          </a:xfrm>
          <a:prstGeom prst="roundRect">
            <a:avLst>
              <a:gd name="adj" fmla="val 22222"/>
            </a:avLst>
          </a:prstGeom>
          <a:solidFill>
            <a:srgbClr val="B084FF"/>
          </a:solidFill>
          <a:ln w="12700">
            <a:solidFill>
              <a:srgbClr val="B08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96312" y="2308860"/>
            <a:ext cx="163677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Human-in-the-loop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4389120" y="2240280"/>
            <a:ext cx="1600200" cy="329184"/>
          </a:xfrm>
          <a:prstGeom prst="roundRect">
            <a:avLst>
              <a:gd name="adj" fmla="val 22222"/>
            </a:avLst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62272" y="2308860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Responsible AI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10698480" cy="1051560"/>
          </a:xfrm>
          <a:prstGeom prst="roundRect">
            <a:avLst>
              <a:gd name="adj" fmla="val 10435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46120"/>
            <a:ext cx="10149840" cy="7315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Transform messy customer messages into clear, prioritized, human-approved actions in seconds.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31520" y="4572000"/>
            <a:ext cx="10789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7F8FA"/>
                </a:solidFill>
              </a:rPr>
              <a:t>Demo flow: Ticket input → GenAI analysis → Suggested response → Human validation → Feedback loop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 Problem Statement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Customer support teams are overloaded with high-volume, diverse and unstructured tickets.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41732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64008" cy="429768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Support receives everything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2075688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Technical issues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Billing questions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Information requests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Complaints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Order tracking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Cancellations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Refunds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Urgent claims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64008" cy="429768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Agents do manual interpretation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2075688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What is the ticket about?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Which category does it belong to?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How urgent is it?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What initial response should be sent?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Which team should handle it?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Is there an existing solution?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83880" y="1417320"/>
            <a:ext cx="3520440" cy="4297680"/>
          </a:xfrm>
          <a:prstGeom prst="roundRect">
            <a:avLst>
              <a:gd name="adj" fmla="val 3117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417320"/>
            <a:ext cx="64008" cy="4297680"/>
          </a:xfrm>
          <a:prstGeom prst="rect">
            <a:avLst/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5819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Business impact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2075688"/>
            <a:ext cx="3200400" cy="3520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Delayed first response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Inconsistent categorization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Wrong routing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Agent overload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Higher support cost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Lower customer satisfaction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580644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98932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The problem is not only the number of tickets — it is the time spent turning ambiguous text into operational action.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2. Data Considerations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The solution depends on clean, relevant, protected and well-labeled ticket data.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657600" cy="4343400"/>
          </a:xfrm>
          <a:prstGeom prst="roundRect">
            <a:avLst>
              <a:gd name="adj" fmla="val 3000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" cy="434340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904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Data needed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984248"/>
            <a:ext cx="333756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Historical support tickets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Assigned categories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Priority / urgency labels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Previous agent responses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Ticket outcome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Resolution status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Escalation status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43400" y="1325880"/>
            <a:ext cx="3657600" cy="4343400"/>
          </a:xfrm>
          <a:prstGeom prst="roundRect">
            <a:avLst>
              <a:gd name="adj" fmla="val 3000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325880"/>
            <a:ext cx="64008" cy="4343400"/>
          </a:xfrm>
          <a:prstGeom prst="rect">
            <a:avLst/>
          </a:prstGeom>
          <a:solidFill>
            <a:srgbClr val="B084FF"/>
          </a:solidFill>
          <a:ln w="12700">
            <a:solidFill>
              <a:srgbClr val="B084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44568" y="14904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Data sources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44568" y="1984248"/>
            <a:ext cx="333756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1. Internal historical dataset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2. Public / open-source datasets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3. Synthetic tickets generated for the demo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Synthetic data helps protect privacy and cover edge cases.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83880" y="1325880"/>
            <a:ext cx="3657600" cy="4343400"/>
          </a:xfrm>
          <a:prstGeom prst="roundRect">
            <a:avLst>
              <a:gd name="adj" fmla="val 3000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1325880"/>
            <a:ext cx="64008" cy="43434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1490472"/>
            <a:ext cx="3337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Preparation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1984248"/>
            <a:ext cx="3337560" cy="3566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Clean text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Normalize categories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Remove duplicates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Mask sensitive data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Validate label quality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Detect missing information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Keep human feedback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580644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98932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Garbage in, garbage out: the AI can only classify and respond well if the ticket data is clean, anonymized and aligned to the business context.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 Solution Expectations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A simple UI that helps agents analyze tickets, suggest responses and keep human control.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02920" y="1325880"/>
            <a:ext cx="3566160" cy="4251960"/>
          </a:xfrm>
          <a:prstGeom prst="roundRect">
            <a:avLst>
              <a:gd name="adj" fmla="val 3077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25880"/>
            <a:ext cx="64008" cy="4251960"/>
          </a:xfrm>
          <a:prstGeom prst="rect">
            <a:avLst/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04088" y="14904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What the agent inputs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04088" y="1984248"/>
            <a:ext cx="32461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A single customer ticket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Or a CSV batch of tickets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Optional context from a knowledge base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Policies or response guidelines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15968" y="1325880"/>
            <a:ext cx="3566160" cy="4251960"/>
          </a:xfrm>
          <a:prstGeom prst="roundRect">
            <a:avLst>
              <a:gd name="adj" fmla="val 3077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15968" y="1325880"/>
            <a:ext cx="64008" cy="425196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14904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What GenAI returns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17136" y="1984248"/>
            <a:ext cx="32461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Category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Urgency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Sentiment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Customer intent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Missing information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Suggested team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Escalation flag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Suggested response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Confidence score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19872" y="1325880"/>
            <a:ext cx="3566160" cy="4251960"/>
          </a:xfrm>
          <a:prstGeom prst="roundRect">
            <a:avLst>
              <a:gd name="adj" fmla="val 3077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19872" y="1325880"/>
            <a:ext cx="64008" cy="425196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49047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What the human does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21040" y="1984248"/>
            <a:ext cx="3246120" cy="347472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Reviews the output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Edits the response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Corrects category / urgency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Approves or rejects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Escalates when needed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Saves feedback for improvement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580644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98932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The AI accelerates analysis; the human validates judgment.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Flow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Three steps that show the complete value of the solution.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508760"/>
            <a:ext cx="64008" cy="320040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41248" y="16733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Part 1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Ticket creation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41248" y="2167128"/>
            <a:ext cx="2834640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The user or support agent enters a customer ticket and clicks “Analyze ticket”.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Goal: capture the unstructured message and trigger GenAI analysis.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526280" y="150876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508760"/>
            <a:ext cx="64008" cy="320040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727448" y="16733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Part 2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AI analysis + response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27448" y="2167128"/>
            <a:ext cx="2834640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The solution extracts category, urgency, sentiment, intent and missing information.</a:t>
            </a:r>
            <a:endParaRPr lang="en-US" sz="1030" dirty="0"/>
          </a:p>
          <a:p>
            <a:pPr indent="0" marL="0">
              <a:buNone/>
            </a:pP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It also generates a first response the agent can submit or edit.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412480" y="1508760"/>
            <a:ext cx="3154680" cy="3200400"/>
          </a:xfrm>
          <a:prstGeom prst="roundRect">
            <a:avLst>
              <a:gd name="adj" fmla="val 3478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412480" y="1508760"/>
            <a:ext cx="64008" cy="320040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13648" y="1673352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Part 3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Human validation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13648" y="2167128"/>
            <a:ext cx="2834640" cy="242316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The agent reviews the AI output, confirms whether the solution is correct, edits it or proposes another action based on experience.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3822192" y="3108960"/>
            <a:ext cx="612648" cy="0"/>
          </a:xfrm>
          <a:prstGeom prst="line">
            <a:avLst/>
          </a:prstGeom>
          <a:noFill/>
          <a:ln w="25400">
            <a:solidFill>
              <a:srgbClr val="FF4B4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708392" y="3108960"/>
            <a:ext cx="612648" cy="0"/>
          </a:xfrm>
          <a:prstGeom prst="line">
            <a:avLst/>
          </a:prstGeom>
          <a:noFill/>
          <a:ln w="25400">
            <a:solidFill>
              <a:srgbClr val="FF4B4B"/>
            </a:solidFill>
            <a:prstDash val="solid"/>
            <a:headEnd type="none"/>
            <a:tailEnd type="triangle"/>
          </a:ln>
        </p:spPr>
      </p:sp>
      <p:sp>
        <p:nvSpPr>
          <p:cNvPr id="18" name="Text 16"/>
          <p:cNvSpPr/>
          <p:nvPr/>
        </p:nvSpPr>
        <p:spPr>
          <a:xfrm>
            <a:off x="868680" y="534924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7F8FA"/>
                </a:solidFill>
              </a:rPr>
              <a:t>This demonstrates human + AI coexistence: GenAI provides speed and structure; humans provide context, judgment and accountability.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Part 1 — User creates and analyzes a ticket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The agent enters a customer ticket and triggers the analysis.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704088" y="1389888"/>
            <a:ext cx="10799064" cy="3072384"/>
          </a:xfrm>
          <a:prstGeom prst="roundRect">
            <a:avLst>
              <a:gd name="adj" fmla="val 2381"/>
            </a:avLst>
          </a:prstGeom>
          <a:solidFill>
            <a:srgbClr val="1F2430"/>
          </a:solidFill>
          <a:ln w="12700">
            <a:solidFill>
              <a:srgbClr val="333A46"/>
            </a:solidFill>
            <a:prstDash val="solid"/>
          </a:ln>
        </p:spPr>
      </p:sp>
      <p:pic>
        <p:nvPicPr>
          <p:cNvPr id="5" name="Image 0" descr="/mnt/data/imagen(25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17320"/>
            <a:ext cx="1074420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68680" y="1554480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941832" y="1623060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Part 1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777240" y="4800600"/>
            <a:ext cx="3474720" cy="960120"/>
          </a:xfrm>
          <a:prstGeom prst="roundRect">
            <a:avLst>
              <a:gd name="adj" fmla="val 11429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77240" y="4800600"/>
            <a:ext cx="64008" cy="960120"/>
          </a:xfrm>
          <a:prstGeom prst="rect">
            <a:avLst/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78408" y="49651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Input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978408" y="545896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Customer ticket as free-form text.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4434840" y="4800600"/>
            <a:ext cx="3474720" cy="960120"/>
          </a:xfrm>
          <a:prstGeom prst="roundRect">
            <a:avLst>
              <a:gd name="adj" fmla="val 11429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34840" y="4800600"/>
            <a:ext cx="64008" cy="9601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36008" y="496519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Action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36008" y="5458968"/>
            <a:ext cx="3154680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Click “Analyze ticket”.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8092440" y="4800600"/>
            <a:ext cx="3108960" cy="960120"/>
          </a:xfrm>
          <a:prstGeom prst="roundRect">
            <a:avLst>
              <a:gd name="adj" fmla="val 11429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092440" y="4800600"/>
            <a:ext cx="64008" cy="96012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93608" y="4965192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Value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293608" y="5458968"/>
            <a:ext cx="2788920" cy="1828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No rigid form required.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Part 2 — GenAI generates a structured output and response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The AI converts unstructured text into actionable fields and a draft reply.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234440"/>
            <a:ext cx="11073384" cy="3758184"/>
          </a:xfrm>
          <a:prstGeom prst="roundRect">
            <a:avLst>
              <a:gd name="adj" fmla="val 1946"/>
            </a:avLst>
          </a:prstGeom>
          <a:solidFill>
            <a:srgbClr val="1F2430"/>
          </a:solidFill>
          <a:ln w="12700">
            <a:solidFill>
              <a:srgbClr val="333A46"/>
            </a:solidFill>
            <a:prstDash val="solid"/>
          </a:ln>
        </p:spPr>
      </p:sp>
      <p:pic>
        <p:nvPicPr>
          <p:cNvPr id="5" name="Image 0" descr="/mnt/data/imagen(26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261872"/>
            <a:ext cx="11018520" cy="3703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9903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46761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Part 2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685800" y="5285232"/>
            <a:ext cx="3566160" cy="804672"/>
          </a:xfrm>
          <a:prstGeom prst="roundRect">
            <a:avLst>
              <a:gd name="adj" fmla="val 13636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85800" y="5285232"/>
            <a:ext cx="64008" cy="804672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86968" y="54498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Structured extraction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886968" y="5943600"/>
            <a:ext cx="3246120" cy="27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Category, urgency, sentiment, intent and missing information.</a:t>
            </a:r>
            <a:endParaRPr lang="en-US" sz="1030" dirty="0"/>
          </a:p>
        </p:txBody>
      </p:sp>
      <p:sp>
        <p:nvSpPr>
          <p:cNvPr id="12" name="Shape 9"/>
          <p:cNvSpPr/>
          <p:nvPr/>
        </p:nvSpPr>
        <p:spPr>
          <a:xfrm>
            <a:off x="4480560" y="5285232"/>
            <a:ext cx="3566160" cy="804672"/>
          </a:xfrm>
          <a:prstGeom prst="roundRect">
            <a:avLst>
              <a:gd name="adj" fmla="val 13636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480560" y="5285232"/>
            <a:ext cx="64008" cy="804672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681728" y="5449824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Suggested response</a:t>
            </a:r>
            <a:endParaRPr lang="en-US" sz="1500" dirty="0"/>
          </a:p>
        </p:txBody>
      </p:sp>
      <p:sp>
        <p:nvSpPr>
          <p:cNvPr id="15" name="Text 12"/>
          <p:cNvSpPr/>
          <p:nvPr/>
        </p:nvSpPr>
        <p:spPr>
          <a:xfrm>
            <a:off x="4681728" y="5943600"/>
            <a:ext cx="3246120" cy="27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Editable draft for the support agent.</a:t>
            </a:r>
            <a:endParaRPr lang="en-US" sz="1030" dirty="0"/>
          </a:p>
        </p:txBody>
      </p:sp>
      <p:sp>
        <p:nvSpPr>
          <p:cNvPr id="16" name="Shape 13"/>
          <p:cNvSpPr/>
          <p:nvPr/>
        </p:nvSpPr>
        <p:spPr>
          <a:xfrm>
            <a:off x="8275320" y="5285232"/>
            <a:ext cx="3108960" cy="804672"/>
          </a:xfrm>
          <a:prstGeom prst="roundRect">
            <a:avLst>
              <a:gd name="adj" fmla="val 13636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275320" y="5285232"/>
            <a:ext cx="64008" cy="804672"/>
          </a:xfrm>
          <a:prstGeom prst="rect">
            <a:avLst/>
          </a:prstGeom>
          <a:solidFill>
            <a:srgbClr val="B084FF"/>
          </a:solidFill>
          <a:ln w="12700">
            <a:solidFill>
              <a:srgbClr val="B084F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476488" y="5449824"/>
            <a:ext cx="2788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Confidence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8476488" y="5943600"/>
            <a:ext cx="2788920" cy="27432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Shows when review is needed.</a:t>
            </a:r>
            <a:endParaRPr lang="en-US" sz="10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 Part 3 — Human validation and feedback loop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The human agent validates, edits or overrides the AI recommendation.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66928" y="1143000"/>
            <a:ext cx="11073384" cy="4443984"/>
          </a:xfrm>
          <a:prstGeom prst="roundRect">
            <a:avLst>
              <a:gd name="adj" fmla="val 1646"/>
            </a:avLst>
          </a:prstGeom>
          <a:solidFill>
            <a:srgbClr val="1F2430"/>
          </a:solidFill>
          <a:ln w="12700">
            <a:solidFill>
              <a:srgbClr val="333A46"/>
            </a:solidFill>
            <a:prstDash val="solid"/>
          </a:ln>
        </p:spPr>
      </p:sp>
      <p:pic>
        <p:nvPicPr>
          <p:cNvPr id="5" name="Image 0" descr="/mnt/data/imagen(27)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170432"/>
            <a:ext cx="11018520" cy="43891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31520" y="1307592"/>
            <a:ext cx="1417320" cy="329184"/>
          </a:xfrm>
          <a:prstGeom prst="roundRect">
            <a:avLst>
              <a:gd name="adj" fmla="val 22222"/>
            </a:avLst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04672" y="1376172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</a:rPr>
              <a:t>Part 3</a:t>
            </a:r>
            <a:endParaRPr lang="en-US" sz="880" dirty="0"/>
          </a:p>
        </p:txBody>
      </p:sp>
      <p:sp>
        <p:nvSpPr>
          <p:cNvPr id="8" name="Shape 5"/>
          <p:cNvSpPr/>
          <p:nvPr/>
        </p:nvSpPr>
        <p:spPr>
          <a:xfrm>
            <a:off x="914400" y="580644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188720" y="598932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Every correction becomes feedback that can improve future suggestions and preserve human expertise.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How GenAI Is Used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The solution demonstrates multiple GenAI capabilities beyond a basic chatbot.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417320"/>
            <a:ext cx="64008" cy="14173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5819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Classification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49808" y="207568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Map tickets to business categories.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34840" y="141732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417320"/>
            <a:ext cx="64008" cy="141732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158191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Extraction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207568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Identify urgency, intent, sentiment and missing fields.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548640" y="32918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8640" y="3291840"/>
            <a:ext cx="64008" cy="141732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456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Generation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39502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Draft empathetic and policy-aware responses.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4434840" y="329184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34840" y="3291840"/>
            <a:ext cx="64008" cy="1417320"/>
          </a:xfrm>
          <a:prstGeom prst="rect">
            <a:avLst/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36008" y="345643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RAG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636008" y="395020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Retrieve approved policy or knowledge base guidance.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5166360"/>
            <a:ext cx="64008" cy="1417320"/>
          </a:xfrm>
          <a:prstGeom prst="rect">
            <a:avLst/>
          </a:prstGeom>
          <a:solidFill>
            <a:srgbClr val="B084FF"/>
          </a:solidFill>
          <a:ln w="12700">
            <a:solidFill>
              <a:srgbClr val="B08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53309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Evaluation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9808" y="5824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Compare output with expected labels and agent feedback.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4434840" y="5166360"/>
            <a:ext cx="3566160" cy="1417320"/>
          </a:xfrm>
          <a:prstGeom prst="roundRect">
            <a:avLst>
              <a:gd name="adj" fmla="val 7742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434840" y="5166360"/>
            <a:ext cx="64008" cy="141732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36008" y="5330952"/>
            <a:ext cx="3246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Human feedback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636008" y="5824728"/>
            <a:ext cx="3246120" cy="6400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Capture overrides for continuous improvement.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914400" y="580644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88720" y="598932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This is not only response automation — it is decision support for customer operations.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Recommended MVP Architecture and Tools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Fast to build, easy to demo, and realistic enough for implementation.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5074920" cy="786384"/>
          </a:xfrm>
          <a:prstGeom prst="roundRect">
            <a:avLst>
              <a:gd name="adj" fmla="val 13953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64008" cy="78638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Streamlit UI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4754880" cy="9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Ticket input, CSV upload, editable output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6355080" y="1325880"/>
            <a:ext cx="5074920" cy="786384"/>
          </a:xfrm>
          <a:prstGeom prst="roundRect">
            <a:avLst>
              <a:gd name="adj" fmla="val 13953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355080" y="1325880"/>
            <a:ext cx="64008" cy="786384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56248" y="149047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Python + Pandas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556248" y="1984248"/>
            <a:ext cx="4754880" cy="9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Preprocessing and data handling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685800" y="2331720"/>
            <a:ext cx="5074920" cy="786384"/>
          </a:xfrm>
          <a:prstGeom prst="roundRect">
            <a:avLst>
              <a:gd name="adj" fmla="val 13953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2331720"/>
            <a:ext cx="64008" cy="786384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968" y="2496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OpenAI API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86968" y="2990088"/>
            <a:ext cx="4754880" cy="9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Classification, extraction and response generation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6355080" y="2331720"/>
            <a:ext cx="5074920" cy="786384"/>
          </a:xfrm>
          <a:prstGeom prst="roundRect">
            <a:avLst>
              <a:gd name="adj" fmla="val 13953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355080" y="2331720"/>
            <a:ext cx="64008" cy="786384"/>
          </a:xfrm>
          <a:prstGeom prst="rect">
            <a:avLst/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56248" y="249631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Knowledge Base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556248" y="2990088"/>
            <a:ext cx="4754880" cy="9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CSV / Markdown policies for grounded response guidance</a:t>
            </a:r>
            <a:endParaRPr lang="en-US" sz="1030" dirty="0"/>
          </a:p>
        </p:txBody>
      </p:sp>
      <p:sp>
        <p:nvSpPr>
          <p:cNvPr id="20" name="Shape 18"/>
          <p:cNvSpPr/>
          <p:nvPr/>
        </p:nvSpPr>
        <p:spPr>
          <a:xfrm>
            <a:off x="685800" y="3337560"/>
            <a:ext cx="5074920" cy="786384"/>
          </a:xfrm>
          <a:prstGeom prst="roundRect">
            <a:avLst>
              <a:gd name="adj" fmla="val 13953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3337560"/>
            <a:ext cx="64008" cy="786384"/>
          </a:xfrm>
          <a:prstGeom prst="rect">
            <a:avLst/>
          </a:prstGeom>
          <a:solidFill>
            <a:srgbClr val="B084FF"/>
          </a:solidFill>
          <a:ln w="12700">
            <a:solidFill>
              <a:srgbClr val="B084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86968" y="3502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Feedback Store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86968" y="3995928"/>
            <a:ext cx="4754880" cy="9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CSV or SQLite to capture human validation</a:t>
            </a:r>
            <a:endParaRPr lang="en-US" sz="1030" dirty="0"/>
          </a:p>
        </p:txBody>
      </p:sp>
      <p:sp>
        <p:nvSpPr>
          <p:cNvPr id="24" name="Shape 22"/>
          <p:cNvSpPr/>
          <p:nvPr/>
        </p:nvSpPr>
        <p:spPr>
          <a:xfrm>
            <a:off x="6355080" y="3337560"/>
            <a:ext cx="5074920" cy="786384"/>
          </a:xfrm>
          <a:prstGeom prst="roundRect">
            <a:avLst>
              <a:gd name="adj" fmla="val 13953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355080" y="3337560"/>
            <a:ext cx="64008" cy="786384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56248" y="3502152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Export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6556248" y="3995928"/>
            <a:ext cx="4754880" cy="9144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CSV/JSON result for ticketing systems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1005840" y="5257800"/>
            <a:ext cx="10149840" cy="658368"/>
          </a:xfrm>
          <a:prstGeom prst="roundRect">
            <a:avLst>
              <a:gd name="adj" fmla="val 16667"/>
            </a:avLst>
          </a:prstGeom>
          <a:solidFill>
            <a:srgbClr val="282C36"/>
          </a:solidFill>
          <a:ln w="12700">
            <a:solidFill>
              <a:srgbClr val="333A4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143000" y="5468112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7F8FA"/>
                </a:solidFill>
              </a:rPr>
              <a:t>Ticket → Preprocessing → GenAI analysis → Knowledge lookup → Suggested response → Human validation → Feedback loop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Success Metrics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530352" y="841248"/>
            <a:ext cx="106984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8B0C0"/>
                </a:solidFill>
              </a:rPr>
              <a:t>What we would measure to prove value after the demo.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685800" y="132588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25880"/>
            <a:ext cx="64008" cy="4434840"/>
          </a:xfrm>
          <a:prstGeom prst="rect">
            <a:avLst/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1490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AI quality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1984248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Classification accuracy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Priority accuracy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Response relevance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Escalation detection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Low-confidence detection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361688" y="132588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1325880"/>
            <a:ext cx="64008" cy="443484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62856" y="1490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Operational efficiency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62856" y="1984248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Average handling time reduction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Manual triage reduction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Fewer wrong assignments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Faster first response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Higher agent productivity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028432" y="1325880"/>
            <a:ext cx="3474720" cy="4434840"/>
          </a:xfrm>
          <a:prstGeom prst="roundRect">
            <a:avLst>
              <a:gd name="adj" fmla="val 3158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28432" y="1325880"/>
            <a:ext cx="64008" cy="4434840"/>
          </a:xfrm>
          <a:prstGeom prst="rect">
            <a:avLst/>
          </a:prstGeom>
          <a:solidFill>
            <a:srgbClr val="FFB000"/>
          </a:solidFill>
          <a:ln w="12700">
            <a:solidFill>
              <a:srgbClr val="FFB0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0" y="1490472"/>
            <a:ext cx="3154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Human oversight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0" y="1984248"/>
            <a:ext cx="3154680" cy="36576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Human override rate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Approval rate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Feedback volume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Policy compliance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Customer satisfaction trend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5806440"/>
            <a:ext cx="10424160" cy="502920"/>
          </a:xfrm>
          <a:prstGeom prst="roundRect">
            <a:avLst>
              <a:gd name="adj" fmla="val 21818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989320"/>
            <a:ext cx="987552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Winning metric for the hackathon: reduced handling time while keeping human control.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914400"/>
            <a:ext cx="10789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7F8F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Smart Ticket Assistant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713232" y="1600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8B0C0"/>
                </a:solidFill>
              </a:rPr>
              <a:t>A GenAI copilot that helps support agents move from messy tickets to clear, prioritized and validated actions.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85800" y="274320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2743200"/>
            <a:ext cx="64008" cy="1234440"/>
          </a:xfrm>
          <a:prstGeom prst="rect">
            <a:avLst/>
          </a:prstGeom>
          <a:solidFill>
            <a:srgbClr val="FF4B4B"/>
          </a:solidFill>
          <a:ln w="12700">
            <a:solidFill>
              <a:srgbClr val="FF4B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86968" y="2907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AI provides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86968" y="34015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Speed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Structure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Consistency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Drafting support</a:t>
            </a:r>
            <a:endParaRPr lang="en-US" sz="1030" dirty="0"/>
          </a:p>
        </p:txBody>
      </p:sp>
      <p:sp>
        <p:nvSpPr>
          <p:cNvPr id="8" name="Shape 6"/>
          <p:cNvSpPr/>
          <p:nvPr/>
        </p:nvSpPr>
        <p:spPr>
          <a:xfrm>
            <a:off x="4434840" y="274320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2743200"/>
            <a:ext cx="64008" cy="1234440"/>
          </a:xfrm>
          <a:prstGeom prst="rect">
            <a:avLst/>
          </a:prstGeom>
          <a:solidFill>
            <a:srgbClr val="38D996"/>
          </a:solidFill>
          <a:ln w="12700">
            <a:solidFill>
              <a:srgbClr val="38D9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36008" y="2907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Human provides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636008" y="34015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Judgment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Empathy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Context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Accountability</a:t>
            </a:r>
            <a:endParaRPr lang="en-US" sz="1030" dirty="0"/>
          </a:p>
        </p:txBody>
      </p:sp>
      <p:sp>
        <p:nvSpPr>
          <p:cNvPr id="12" name="Shape 10"/>
          <p:cNvSpPr/>
          <p:nvPr/>
        </p:nvSpPr>
        <p:spPr>
          <a:xfrm>
            <a:off x="8183880" y="2743200"/>
            <a:ext cx="3337560" cy="1234440"/>
          </a:xfrm>
          <a:prstGeom prst="roundRect">
            <a:avLst>
              <a:gd name="adj" fmla="val 8889"/>
            </a:avLst>
          </a:prstGeom>
          <a:solidFill>
            <a:srgbClr val="1F2430"/>
          </a:solidFill>
          <a:ln w="12700">
            <a:solidFill>
              <a:srgbClr val="333A46">
                <a:alpha val="9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83880" y="2743200"/>
            <a:ext cx="64008" cy="1234440"/>
          </a:xfrm>
          <a:prstGeom prst="rect">
            <a:avLst/>
          </a:prstGeom>
          <a:solidFill>
            <a:srgbClr val="56B6FF"/>
          </a:solidFill>
          <a:ln w="12700">
            <a:solidFill>
              <a:srgbClr val="56B6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85048" y="2907792"/>
            <a:ext cx="3017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7F8FA"/>
                </a:solidFill>
              </a:rPr>
              <a:t>Business gains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85048" y="3401568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Faster responses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Lower workload</a:t>
            </a:r>
            <a:endParaRPr lang="en-US" sz="1030" dirty="0"/>
          </a:p>
          <a:p>
            <a:pPr indent="0" marL="0">
              <a:buNone/>
            </a:pPr>
            <a:r>
              <a:rPr lang="en-US" sz="1030" dirty="0">
                <a:solidFill>
                  <a:srgbClr val="A8B0C0"/>
                </a:solidFill>
              </a:rPr>
              <a:t>Better service quality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914400" y="5074920"/>
            <a:ext cx="10424160" cy="777240"/>
          </a:xfrm>
          <a:prstGeom prst="roundRect">
            <a:avLst>
              <a:gd name="adj" fmla="val 14118"/>
            </a:avLst>
          </a:prstGeom>
          <a:solidFill>
            <a:srgbClr val="282C36"/>
          </a:solidFill>
          <a:ln w="15240">
            <a:solidFill>
              <a:srgbClr val="FF4B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5257800"/>
            <a:ext cx="9875520" cy="4572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7F8FA"/>
                </a:solidFill>
              </a:rPr>
              <a:t>The AI accelerates. The human decides. The organization learns.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8B95A7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Hackathon Demo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Ticket Assistant</dc:title>
  <dc:subject>Smart Ticket Assistant Hackathon Demo</dc:subject>
  <dc:creator>OpenAI</dc:creator>
  <cp:lastModifiedBy>OpenAI</cp:lastModifiedBy>
  <cp:revision>1</cp:revision>
  <dcterms:created xsi:type="dcterms:W3CDTF">2026-06-05T05:03:13Z</dcterms:created>
  <dcterms:modified xsi:type="dcterms:W3CDTF">2026-06-05T05:03:13Z</dcterms:modified>
</cp:coreProperties>
</file>